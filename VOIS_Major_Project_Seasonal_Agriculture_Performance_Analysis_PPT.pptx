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https://github.com/SagarSharma131006/VI_Internship_Major_Projec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Relationship Id="rId3" Type="http://schemas.openxmlformats.org/officeDocument/2006/relationships/hyperlink" Target="mailto:sagarsharma131006@gmail.com" TargetMode="External"/><Relationship Id="rId4" Type="http://schemas.openxmlformats.org/officeDocument/2006/relationships/hyperlink" Target="https://www.linkedin.com/in/sagar-sharma-148b1a3a4" TargetMode="External"/><Relationship Id="rId5" Type="http://schemas.openxmlformats.org/officeDocument/2006/relationships/hyperlink" Target="https://github.com/SagarSharma131006/VI_Internship_Major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364" y="3620000"/>
            <a:ext cx="6800000" cy="95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</a:rPr>
              <a:t>Sagar Sharma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Panipat Institute of Engineering and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2600" dirty="0"/>
              <a:t>Seasonal Agriculture Performance Analysis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8364" y="4700000"/>
            <a:ext cx="6800000" cy="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600"/>
              <a:t>AICTE STU ID : STU688dcbd0133971754123216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50000"/>
              </a:lnSpc>
              <a:spcAft>
                <a:spcPts val="1400"/>
              </a:spcAft>
              <a:buNone/>
            </a:pPr>
            <a:r>
              <a:rPr sz="1800" b="0" i="0">
                <a:solidFill>
                  <a:srgbClr val="1F2A3C"/>
                </a:solidFill>
                <a:latin typeface="Calibri"/>
              </a:rPr>
              <a:t>Agricultural activities are influenced by seasonal variations in environmental conditions, farming practices, resource availability and market conditions, causing performance to differ from one season to another.</a:t>
            </a:r>
          </a:p>
          <a:p>
            <a:pPr marL="228600" indent="-228600" algn="l">
              <a:spcAft>
                <a:spcPts val="1400"/>
              </a:spcAft>
              <a:buNone/>
            </a:pPr>
            <a:r>
              <a:rPr sz="1800" b="0" i="0">
                <a:solidFill>
                  <a:srgbClr val="1F2A3C"/>
                </a:solidFill>
                <a:latin typeface="Calibri"/>
              </a:rPr>
              <a:t>Raw agricultural data does not clearly reveal how performance changes across seasons or what patterns exist within different seasonal conditions.</a:t>
            </a:r>
          </a:p>
          <a:p>
            <a:pPr marL="228600" indent="-228600" algn="l">
              <a:spcAft>
                <a:spcPts val="1400"/>
              </a:spcAft>
              <a:buNone/>
            </a:pPr>
            <a:r>
              <a:rPr sz="1800" b="0" i="0">
                <a:solidFill>
                  <a:srgbClr val="1F2A3C"/>
                </a:solidFill>
                <a:latin typeface="Calibri"/>
              </a:rPr>
              <a:t>This project analyzes a seasonal agriculture dataset to identify meaningful patterns, trends, relationships and variations in agricultural performance across the Kharif, Rabi and Zaid seasons.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z="2800"/>
              <a:t>Project Description</a:t>
            </a:r>
            <a:br>
              <a:rPr lang="en-GB" dirty="0"/>
            </a:br>
            <a:r>
              <a:rPr lang="en-GB" dirty="0" sz="1600" b="0"/>
              <a:t>Analysis of 4,000 farm records across 8 states, 10 districts, 8 crops, 3 seasons and 4 irrigation methods, covering environmental conditions, farming inputs and economic outcomes, to uncover seasonal patterns in agricultural performance.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233172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Cleaned missing Rainfall, Soil Moisture and Yield values using season-wise medians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Compared Yield and Profit across Kharif, Rabi and Zaid using boxplots and summary statistics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Examined environmental conditions, resource usage and economic outcomes season by season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Studied correlations between environmental/input factors and Yield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Compared performance across crops, states and irrigation methods within each season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Applied a one-way ANOVA test to check whether seasonal differences are statistically significant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A3C"/>
                </a:solidFill>
                <a:latin typeface="Calibri"/>
              </a:rPr>
              <a:t>Derived evidence-based key findings and recommendations, documented fully in a 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 marL="228600" indent="-228600">
              <a:lnSpc>
                <a:spcPct val="150000"/>
              </a:lnSpc>
              <a:spcAft>
                <a:spcPts val="1600"/>
              </a:spcAft>
              <a:buFont typeface="Arial"/>
              <a:buChar char="•"/>
            </a:pPr>
            <a:r>
              <a:rPr sz="2200" b="0" i="0">
                <a:solidFill>
                  <a:srgbClr val="1F2A3C"/>
                </a:solidFill>
                <a:latin typeface="Calibri"/>
              </a:rPr>
              <a:t>Farmers deciding which crops to grow in which season</a:t>
            </a:r>
            <a:endParaRPr lang="en-IN" sz="3600" dirty="0"/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2200" b="0" i="0">
                <a:solidFill>
                  <a:srgbClr val="1F2A3C"/>
                </a:solidFill>
                <a:latin typeface="Calibri"/>
              </a:rPr>
              <a:t>Agricultural policymakers and government agriculture departments, for seasonal planning support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2200" b="0" i="0">
                <a:solidFill>
                  <a:srgbClr val="1F2A3C"/>
                </a:solidFill>
                <a:latin typeface="Calibri"/>
              </a:rPr>
              <a:t>Agri-fintech and crop insurance companies, for seasonal risk assessment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2200" b="0" i="0">
                <a:solidFill>
                  <a:srgbClr val="1F2A3C"/>
                </a:solidFill>
                <a:latin typeface="Calibri"/>
              </a:rPr>
              <a:t>Agronomists and researchers studying seasonal performance patterns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2200" b="0" i="0">
                <a:solidFill>
                  <a:srgbClr val="1F2A3C"/>
                </a:solidFill>
                <a:latin typeface="Calibri"/>
              </a:rPr>
              <a:t>Agri-business and supply chain planners forecasting seasonal production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4361965"/>
            <a:ext cx="1416304" cy="246821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300000"/>
            <a:ext cx="9027702" cy="5243448"/>
          </a:xfrm>
        </p:spPr>
        <p:txBody>
          <a:bodyPr/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F2A3C"/>
                </a:solidFill>
                <a:latin typeface="Calibri"/>
              </a:rPr>
              <a:t>Python — core programming language for the analysis</a:t>
            </a:r>
            <a:endParaRPr lang="en-IN" dirty="0"/>
          </a:p>
          <a:p>
            <a:pPr marL="342900" indent="-22860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F2A3C"/>
                </a:solidFill>
                <a:latin typeface="Calibri"/>
              </a:rPr>
              <a:t>Pandas, NumPy — data cleaning and manipulation</a:t>
            </a:r>
          </a:p>
          <a:p>
            <a:pPr marL="342900" indent="-22860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F2A3C"/>
                </a:solidFill>
                <a:latin typeface="Calibri"/>
              </a:rPr>
              <a:t>Matplotlib, Seaborn — data visualization</a:t>
            </a:r>
          </a:p>
          <a:p>
            <a:pPr marL="342900" indent="-22860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F2A3C"/>
                </a:solidFill>
                <a:latin typeface="Calibri"/>
              </a:rPr>
              <a:t>SciPy (stats module) — one-way ANOVA statistical testing</a:t>
            </a:r>
          </a:p>
          <a:p>
            <a:pPr marL="342900" indent="-22860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F2A3C"/>
                </a:solidFill>
                <a:latin typeface="Calibri"/>
              </a:rPr>
              <a:t>Jupyter Notebook — documentation and analysis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072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Zaid has far fewer farm records (594) than Kharif (1,779) or Rabi (1,627)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0984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Yield dips only slightly, but Profit turns negative in Zaid</a:t>
            </a:r>
            <a:endParaRPr lang="en-GB" sz="2000" dirty="0"/>
          </a:p>
        </p:txBody>
      </p:sp>
      <p:pic>
        <p:nvPicPr>
          <p:cNvPr id="31" name="Picture 30" descr="chart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28868"/>
            <a:ext cx="5486400" cy="2062263"/>
          </a:xfrm>
          <a:prstGeom prst="rect">
            <a:avLst/>
          </a:prstGeom>
        </p:spPr>
      </p:pic>
      <p:pic>
        <p:nvPicPr>
          <p:cNvPr id="32" name="Picture 31" descr="chart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921864"/>
            <a:ext cx="5486400" cy="22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072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Kharif has the highest rainfall and humidity of the 3 seasons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60984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Fertilizer, pesticide and water use stay nearly flat across seasons</a:t>
            </a:r>
            <a:endParaRPr lang="en-GB" sz="2000" dirty="0"/>
          </a:p>
        </p:txBody>
      </p:sp>
      <p:pic>
        <p:nvPicPr>
          <p:cNvPr id="31" name="Picture 30" descr="chart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60601"/>
            <a:ext cx="5486400" cy="1598797"/>
          </a:xfrm>
          <a:prstGeom prst="rect">
            <a:avLst/>
          </a:prstGeom>
        </p:spPr>
      </p:pic>
      <p:pic>
        <p:nvPicPr>
          <p:cNvPr id="32" name="Picture 31" descr="chart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260601"/>
            <a:ext cx="5486400" cy="159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072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Revenue falls faster than cost across seasons, driving Zaid into a loss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60984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Individual factors show weak linear correlation with Yield alone</a:t>
            </a:r>
            <a:endParaRPr lang="en-GB" sz="2000" dirty="0"/>
          </a:p>
        </p:txBody>
      </p:sp>
      <p:pic>
        <p:nvPicPr>
          <p:cNvPr id="31" name="Picture 30" descr="chart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5596"/>
            <a:ext cx="5486400" cy="3308808"/>
          </a:xfrm>
          <a:prstGeom prst="rect">
            <a:avLst/>
          </a:prstGeom>
        </p:spPr>
      </p:pic>
      <p:pic>
        <p:nvPicPr>
          <p:cNvPr id="32" name="Picture 31" descr="chart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8" y="1870000"/>
            <a:ext cx="4874023" cy="43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072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Rainfed shows the highest water efficiency across all seasons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60984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Sugarcane and Chilli stay profitable in every season</a:t>
            </a:r>
            <a:endParaRPr lang="en-GB" sz="2000" dirty="0"/>
          </a:p>
        </p:txBody>
      </p:sp>
      <p:pic>
        <p:nvPicPr>
          <p:cNvPr id="31" name="Picture 30" descr="char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1843"/>
            <a:ext cx="5486400" cy="2416313"/>
          </a:xfrm>
          <a:prstGeom prst="rect">
            <a:avLst/>
          </a:prstGeom>
        </p:spPr>
      </p:pic>
      <p:pic>
        <p:nvPicPr>
          <p:cNvPr id="32" name="Picture 31" descr="chart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64955"/>
            <a:ext cx="5486400" cy="419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072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Disease/pest risk is highest in Kharif despite better rainfall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6098400" y="1275371"/>
            <a:ext cx="5786400" cy="520000"/>
          </a:xfrm>
          <a:prstGeom prst="rect">
            <a:avLst/>
          </a:prstGeom>
        </p:spPr>
        <p:txBody>
          <a:bodyPr vert="horz" lIns="0" tIns="45720" rIns="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Season affects each state differently (e.g. Punjab peaks in Rabi, Maharashtra dips in Zaid)</a:t>
            </a:r>
            <a:endParaRPr lang="en-GB" sz="2000" dirty="0"/>
          </a:p>
        </p:txBody>
      </p:sp>
      <p:pic>
        <p:nvPicPr>
          <p:cNvPr id="31" name="Picture 30" descr="char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72"/>
            <a:ext cx="5486400" cy="3877056"/>
          </a:xfrm>
          <a:prstGeom prst="rect">
            <a:avLst/>
          </a:prstGeom>
        </p:spPr>
      </p:pic>
      <p:pic>
        <p:nvPicPr>
          <p:cNvPr id="32" name="Picture 31" descr="chart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05831"/>
            <a:ext cx="5486400" cy="43083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6280000"/>
            <a:ext cx="11277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1F2A3C"/>
                </a:solidFill>
              </a:rPr>
              <a:t>One-way ANOVA: Profit differs significantly across seasons (p &lt; 0.001); the Yield difference is not statistically significant (p = 0.21)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800"/>
              </a:spcAft>
              <a:buFont typeface="Arial"/>
              <a:buChar char="•"/>
            </a:pPr>
            <a:r>
              <a:rPr sz="2000" b="0">
                <a:solidFill>
                  <a:srgbClr val="1F2A3C"/>
                </a:solidFill>
                <a:latin typeface="Calibri"/>
              </a:rPr>
              <a:t>Build a multivariate/ML model (e.g. Random Forest) to predict Yield and Profit, since individual factors show weak linear correlation on their own</a:t>
            </a:r>
          </a:p>
          <a:p>
            <a:pPr marL="228600" indent="-228600">
              <a:spcAft>
                <a:spcPts val="1800"/>
              </a:spcAft>
              <a:buFont typeface="Arial"/>
              <a:buChar char="•"/>
            </a:pPr>
            <a:r>
              <a:rPr sz="2000" b="0">
                <a:solidFill>
                  <a:srgbClr val="1F2A3C"/>
                </a:solidFill>
                <a:latin typeface="Calibri"/>
              </a:rPr>
              <a:t>Extend the dataset to more states, crops and multiple years to study seasonal trends over time</a:t>
            </a:r>
          </a:p>
          <a:p>
            <a:pPr marL="228600" indent="-228600">
              <a:spcAft>
                <a:spcPts val="1800"/>
              </a:spcAft>
              <a:buFont typeface="Arial"/>
              <a:buChar char="•"/>
            </a:pPr>
            <a:r>
              <a:rPr sz="2000" b="0">
                <a:solidFill>
                  <a:srgbClr val="1F2A3C"/>
                </a:solidFill>
                <a:latin typeface="Calibri"/>
              </a:rPr>
              <a:t>Integrate live weather API data for real-time seasonal risk alerts</a:t>
            </a:r>
          </a:p>
          <a:p>
            <a:pPr marL="228600" indent="-228600">
              <a:spcAft>
                <a:spcPts val="1800"/>
              </a:spcAft>
              <a:buFont typeface="Arial"/>
              <a:buChar char="•"/>
            </a:pPr>
            <a:r>
              <a:rPr sz="2000" b="0">
                <a:solidFill>
                  <a:srgbClr val="1F2A3C"/>
                </a:solidFill>
                <a:latin typeface="Calibri"/>
              </a:rPr>
              <a:t>Build a farmer-facing dashboard recommending the most profitable crop per season and region</a:t>
            </a:r>
          </a:p>
          <a:p>
            <a:pPr marL="228600" indent="-228600">
              <a:spcAft>
                <a:spcPts val="1800"/>
              </a:spcAft>
              <a:buFont typeface="Arial"/>
              <a:buChar char="•"/>
            </a:pPr>
            <a:r>
              <a:rPr sz="2000" b="0">
                <a:solidFill>
                  <a:srgbClr val="1F2A3C"/>
                </a:solidFill>
                <a:latin typeface="Calibri"/>
              </a:rPr>
              <a:t>Study the cost-structure drivers behind Zaid season losses in more depth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A3C"/>
                </a:solidFill>
                <a:latin typeface="Calibri"/>
              </a:rPr>
              <a:t>Complete project code, dataset and Jupyter Notebook are available on GitHub: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286000"/>
            <a:ext cx="10515600" cy="1005840"/>
          </a:xfrm>
          <a:prstGeom prst="rect">
            <a:avLst/>
          </a:prstGeom>
          <a:solidFill>
            <a:srgbClr val="EAF3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/>
            <a:r>
              <a:rPr sz="1800" b="1" u="none">
                <a:solidFill>
                  <a:srgbClr val="1C7293"/>
                </a:solidFill>
                <a:latin typeface="Calibri"/>
                <a:hlinkClick r:id="rId3"/>
              </a:rPr>
              <a:t>https://github.com/SagarSharma131006/VI_Internship_Major_Project</a:t>
            </a:r>
          </a:p>
          <a:p>
            <a:pPr algn="l"/>
            <a:r>
              <a:rPr sz="1400">
                <a:solidFill>
                  <a:srgbClr val="1F2A3C"/>
                </a:solidFill>
                <a:latin typeface="Calibri"/>
              </a:rPr>
              <a:t>Repository: Seasonal-Agriculture-Performance-Analysis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49039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A3C"/>
                </a:solidFill>
                <a:latin typeface="Calibri"/>
              </a:rPr>
              <a:t>Seasonal_Agriculture_Performance_Analysis.ipynb — fully executed notebook with cleaning, EDA, ANOVA and conclusions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A3C"/>
                </a:solidFill>
                <a:latin typeface="Calibri"/>
              </a:rPr>
              <a:t>seasonal_agriculture_performance_dataset.csv — source dataset used for the 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VOIS Course completion certificate - </a:t>
            </a:r>
            <a:br>
              <a:rPr lang="en-IN" sz="3200" dirty="0"/>
            </a:br>
            <a:r>
              <a:rPr lang="en-IN" sz="2400" dirty="0"/>
              <a:t>Course name- Data Visualization </a:t>
            </a:r>
          </a:p>
        </p:txBody>
      </p:sp>
      <p:pic>
        <p:nvPicPr>
          <p:cNvPr id="24" name="Picture 23" descr="cer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878" y="1750000"/>
            <a:ext cx="6716243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28800" y="2377440"/>
            <a:ext cx="85313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1C7293"/>
                </a:solidFill>
                <a:latin typeface="Calibri"/>
              </a:rPr>
              <a:t>Sagar Sharma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A3C"/>
                </a:solidFill>
                <a:latin typeface="Calibri"/>
              </a:rPr>
              <a:t>Panipat Institute of Engineering and Technology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A3C"/>
                </a:solidFill>
                <a:latin typeface="Calibri"/>
                <a:hlinkClick r:id="rId3"/>
              </a:rPr>
              <a:t>sagarsharma131006@gmail.com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A3C"/>
                </a:solidFill>
                <a:latin typeface="Calibri"/>
                <a:hlinkClick r:id="rId4"/>
              </a:rPr>
              <a:t>linkedin.com/in/sagar-sharma-148b1a3a4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1F2A3C"/>
                </a:solidFill>
                <a:latin typeface="Calibri"/>
                <a:hlinkClick r:id="rId5"/>
              </a:rPr>
              <a:t>github.com/SagarSharma131006/VI_Internship_Major_Project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